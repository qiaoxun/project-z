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ZCOOL KuaiLe"/>
      <ns0:bold ns1:id="rIdFont15"/>
    </ns0:embeddedFont>
    <ns0:embeddedFont>
      <ns0:font typeface="Noto Sans SC"/>
      <ns0:bold ns1:id="rIdFont16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3d2e4f93-8e4c-4cb9-ae64-e4cfb1705f59.fntdata" /><ns0:Relationship Id="rIdFont16" Type="http://schemas.openxmlformats.org/officeDocument/2006/relationships/font" Target="fonts/72a52030-bfc6-4fae-9242-2de803f0f929.fntdata" /><ns0:Relationship Id="rIdFont17" Type="http://schemas.openxmlformats.org/officeDocument/2006/relationships/font" Target="fonts/46200320-7498-4cdb-a791-44c9a640485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33751" y="1970782"/>
            <a:ext cx="3124348" cy="419100"/>
          </a:xfrm>
          <a:prstGeom prst="roundRect">
            <a:avLst>
              <a:gd name="adj" fmla="val 50000"/>
            </a:avLst>
          </a:prstGeom>
          <a:solidFill>
            <a:srgbClr val="393831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69034" y="4353817"/>
            <a:ext cx="5253930" cy="533400"/>
          </a:xfrm>
          <a:prstGeom prst="roundRect">
            <a:avLst>
              <a:gd name="adj" fmla="val 28571"/>
            </a:avLst>
          </a:prstGeom>
          <a:solidFill>
            <a:srgbClr val="23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98331" y="4525267"/>
            <a:ext cx="9525" cy="1905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834" y="4534792"/>
            <a:ext cx="133498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656" y="4534792"/>
            <a:ext cx="133498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71807" y="2046982"/>
            <a:ext cx="344823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BBF24"/>
                </a:solidFill>
                <a:latin typeface="Noto Sans SC"/>
              </a:rPr>
              <a:t>5岁幼儿围棋趣味启蒙课程 · 阶段一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5450" y="2618482"/>
            <a:ext cx="8801100" cy="828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defRPr/>
            </a:pPr>
            <a:r>
              <a:rPr b="1" sz="4800" i="0" u="none">
                <a:solidFill>
                  <a:srgbClr val="FFFFFF"/>
                </a:solidFill>
                <a:latin typeface="ZCOOL KuaiLe"/>
              </a:rPr>
              <a:t>第一课：探索围棋小世界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8249" y="3637657"/>
            <a:ext cx="6635501" cy="335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Noto Sans SC"/>
              </a:rPr>
              <a:t>认识黑白精灵，寻找棋子的“小城堡”与神奇的“神奇呼吸口”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8715" y="4506217"/>
            <a:ext cx="173868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F8FAFC"/>
                </a:solidFill>
                <a:latin typeface="Noto Sans SC"/>
              </a:rPr>
              <a:t>建议时长：15分钟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9310" y="4506217"/>
            <a:ext cx="27209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F8FAFC"/>
                </a:solidFill>
                <a:latin typeface="Noto Sans SC"/>
              </a:rPr>
              <a:t>道具：9路小棋盘 + 黑白棋子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47962"/>
            <a:ext cx="3505200" cy="2371725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47962"/>
            <a:ext cx="3505200" cy="2371725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47962"/>
            <a:ext cx="3505200" cy="2371725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47875" y="3871912"/>
            <a:ext cx="628650" cy="247650"/>
          </a:xfrm>
          <a:prstGeom prst="roundRect">
            <a:avLst>
              <a:gd name="adj" fmla="val 46153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81675" y="3871912"/>
            <a:ext cx="628650" cy="247650"/>
          </a:xfrm>
          <a:prstGeom prst="roundRect">
            <a:avLst>
              <a:gd name="adj" fmla="val 46153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15475" y="3871912"/>
            <a:ext cx="628650" cy="247650"/>
          </a:xfrm>
          <a:prstGeom prst="roundRect">
            <a:avLst>
              <a:gd name="adj" fmla="val 46153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071812"/>
            <a:ext cx="609600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3071812"/>
            <a:ext cx="609600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071812"/>
            <a:ext cx="609600" cy="609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1025" y="3233737"/>
            <a:ext cx="222349" cy="285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4825" y="3233737"/>
            <a:ext cx="222349" cy="2857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8625" y="3233737"/>
            <a:ext cx="222349" cy="285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06805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Noto Sans SC"/>
              </a:rPr>
              <a:t>课程导航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953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Noto Sans SC"/>
              </a:rPr>
              <a:t>今日小勇士通关地图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9300" y="3910012"/>
            <a:ext cx="685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Noto Sans SC"/>
              </a:rPr>
              <a:t>第一关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953" y="4233862"/>
            <a:ext cx="39504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Noto Sans SC"/>
              </a:rPr>
              <a:t>认识棋盘与棋子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012" y="4595812"/>
            <a:ext cx="3762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Noto Sans SC"/>
              </a:rPr>
              <a:t>黑白精灵与棋盘城堡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53100" y="3910012"/>
            <a:ext cx="685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Noto Sans SC"/>
              </a:rPr>
              <a:t>第二关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0753" y="4233862"/>
            <a:ext cx="39504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Noto Sans SC"/>
              </a:rPr>
              <a:t>落子交叉点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14812" y="4595812"/>
            <a:ext cx="3762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Noto Sans SC"/>
              </a:rPr>
              <a:t>棋子要停在十字路口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6900" y="3910012"/>
            <a:ext cx="685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Noto Sans SC"/>
              </a:rPr>
              <a:t>第三关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54553" y="4233862"/>
            <a:ext cx="39504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Noto Sans SC"/>
              </a:rPr>
              <a:t>数数棋子的“气”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8612" y="4595812"/>
            <a:ext cx="3762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Noto Sans SC"/>
              </a:rPr>
              <a:t>找到棋子的呼吸口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00750" y="1343025"/>
            <a:ext cx="5581650" cy="5057775"/>
          </a:xfrm>
          <a:prstGeom prst="roundRect">
            <a:avLst>
              <a:gd name="adj" fmla="val 4519"/>
            </a:avLst>
          </a:prstGeom>
          <a:solidFill>
            <a:srgbClr val="FFF7ED"/>
          </a:solidFill>
          <a:ln w="19050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38387"/>
            <a:ext cx="4933950" cy="895350"/>
          </a:xfrm>
          <a:prstGeom prst="roundRect">
            <a:avLst>
              <a:gd name="adj" fmla="val 1702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424237"/>
            <a:ext cx="4933950" cy="895350"/>
          </a:xfrm>
          <a:prstGeom prst="roundRect">
            <a:avLst>
              <a:gd name="adj" fmla="val 1702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510087"/>
            <a:ext cx="4933950" cy="895350"/>
          </a:xfrm>
          <a:prstGeom prst="roundRect">
            <a:avLst>
              <a:gd name="adj" fmla="val 1702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338387"/>
            <a:ext cx="57150" cy="8953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424237"/>
            <a:ext cx="57150" cy="8953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510087"/>
            <a:ext cx="57150" cy="8953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275" y="3248025"/>
            <a:ext cx="762000" cy="762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875" y="3248025"/>
            <a:ext cx="762000" cy="762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042" y="3438525"/>
            <a:ext cx="296465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8642" y="3438525"/>
            <a:ext cx="296465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0680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Noto Sans SC"/>
              </a:rPr>
              <a:t>第一关：认识主角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SC"/>
              </a:rPr>
              <a:t>黑白小精灵与大城堡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2528887"/>
            <a:ext cx="590073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SC"/>
              </a:rPr>
              <a:t>⚪ ⚪ 白棋精灵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2843212"/>
            <a:ext cx="5619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Noto Sans SC"/>
              </a:rPr>
              <a:t>像小雪球一样圆滚滚，后出发的小勇士。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3614737"/>
            <a:ext cx="590073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SC"/>
              </a:rPr>
              <a:t>⚫ ⚫ 黑棋精灵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3929062"/>
            <a:ext cx="5619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Noto Sans SC"/>
              </a:rPr>
              <a:t>像黑巧克力一样酷，总是最先出发领跑！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4700587"/>
            <a:ext cx="590073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78350F"/>
                </a:solidFill>
                <a:latin typeface="Noto Sans SC"/>
              </a:rPr>
              <a:t>🏁 9路小棋盘城堡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5014912"/>
            <a:ext cx="5619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2400E"/>
                </a:solidFill>
                <a:latin typeface="Noto Sans SC"/>
              </a:rPr>
              <a:t>棋盘是充满很多小横线和小竖线的神奇城堡。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9387" y="4238625"/>
            <a:ext cx="45243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9A3412"/>
                </a:solidFill>
                <a:latin typeface="Noto Sans SC"/>
              </a:rPr>
              <a:t>“黑棋先走，白棋后走，互相礼貌打招呼！”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62187"/>
            <a:ext cx="5334000" cy="3219450"/>
          </a:xfrm>
          <a:prstGeom prst="roundRect">
            <a:avLst>
              <a:gd name="adj" fmla="val 5917"/>
            </a:avLst>
          </a:prstGeom>
          <a:solidFill>
            <a:srgbClr val="FEF2F2"/>
          </a:solidFill>
          <a:ln w="1905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262187"/>
            <a:ext cx="5334000" cy="3219450"/>
          </a:xfrm>
          <a:prstGeom prst="roundRect">
            <a:avLst>
              <a:gd name="adj" fmla="val 5917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28850" y="2509837"/>
            <a:ext cx="2095500" cy="2095500"/>
          </a:xfrm>
          <a:prstGeom prst="roundRect">
            <a:avLst>
              <a:gd name="adj" fmla="val 5454"/>
            </a:avLst>
          </a:prstGeom>
          <a:solidFill>
            <a:srgbClr val="FED7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67650" y="2509837"/>
            <a:ext cx="2095500" cy="2095500"/>
          </a:xfrm>
          <a:prstGeom prst="roundRect">
            <a:avLst>
              <a:gd name="adj" fmla="val 5454"/>
            </a:avLst>
          </a:prstGeom>
          <a:solidFill>
            <a:srgbClr val="FED7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0" y="2605087"/>
            <a:ext cx="1905000" cy="1905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134" y="3176587"/>
            <a:ext cx="592782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900" y="2605087"/>
            <a:ext cx="1905000" cy="1905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8934" y="3176587"/>
            <a:ext cx="592782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Noto Sans SC"/>
              </a:rPr>
              <a:t>第二关：落子规范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SC"/>
              </a:rPr>
              <a:t>棋子停在哪里？停在交叉点！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203" y="4757737"/>
            <a:ext cx="6350793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991B1B"/>
                </a:solidFill>
                <a:latin typeface="Noto Sans SC"/>
              </a:rPr>
              <a:t>❌ 停在格子中间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412" y="5053012"/>
            <a:ext cx="6048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7F1D1D"/>
                </a:solidFill>
                <a:latin typeface="Noto Sans SC"/>
              </a:rPr>
              <a:t>“这里是马路中间，会被小车撞到哦！”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5006" y="4757737"/>
            <a:ext cx="630078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66534"/>
                </a:solidFill>
                <a:latin typeface="Noto Sans SC"/>
              </a:rPr>
              <a:t>✔ 停在十字路口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1212" y="5053012"/>
            <a:ext cx="6048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14532D"/>
                </a:solidFill>
                <a:latin typeface="Noto Sans SC"/>
              </a:rPr>
              <a:t>“两条线碰头的地方，才是棋子的家！”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0" y="2266950"/>
            <a:ext cx="7467600" cy="933450"/>
          </a:xfrm>
          <a:prstGeom prst="roundRect">
            <a:avLst>
              <a:gd name="adj" fmla="val 16326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3352800"/>
            <a:ext cx="7467600" cy="933450"/>
          </a:xfrm>
          <a:prstGeom prst="roundRect">
            <a:avLst>
              <a:gd name="adj" fmla="val 16326"/>
            </a:avLst>
          </a:prstGeom>
          <a:solidFill>
            <a:srgbClr val="EFF6FF"/>
          </a:solidFill>
          <a:ln w="1905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4438650"/>
            <a:ext cx="7467600" cy="962025"/>
          </a:xfrm>
          <a:prstGeom prst="roundRect">
            <a:avLst>
              <a:gd name="adj" fmla="val 15841"/>
            </a:avLst>
          </a:prstGeom>
          <a:solidFill>
            <a:srgbClr val="FFF7ED"/>
          </a:solidFill>
          <a:ln w="19050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09812"/>
            <a:ext cx="3048000" cy="304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500312"/>
            <a:ext cx="2667000" cy="2667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350" y="2505075"/>
            <a:ext cx="148232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4350" y="3590925"/>
            <a:ext cx="148232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4350" y="4676775"/>
            <a:ext cx="148232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Noto Sans SC"/>
              </a:rPr>
              <a:t>第三关：核心秘密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SC"/>
              </a:rPr>
              <a:t>棋子的呼吸：“气”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4350" y="2476500"/>
            <a:ext cx="7867650" cy="257175"/>
          </a:xfrm>
          <a:prstGeom prst="rect">
            <a:avLst/>
          </a:prstGeom>
          <a:noFill/>
        </p:spPr>
        <p:txBody>
          <a:bodyPr wrap="none" lIns="224432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6534"/>
                </a:solidFill>
                <a:latin typeface="Noto Sans SC"/>
              </a:rPr>
              <a:t>顺着小线看“胳膊”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4350" y="2790825"/>
            <a:ext cx="7867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5803D"/>
                </a:solidFill>
                <a:latin typeface="Noto Sans SC"/>
              </a:rPr>
              <a:t>棋子向外伸出上下左右 </a:t>
            </a:r>
            <a:r>
              <a:rPr b="1" sz="1200" i="0" u="none">
                <a:solidFill>
                  <a:srgbClr val="15803D"/>
                </a:solidFill>
                <a:latin typeface="Noto Sans SC"/>
              </a:rPr>
              <a:t>4条手臂</a:t>
            </a:r>
            <a:r>
              <a:rPr b="0" sz="1200" i="0" u="none">
                <a:solidFill>
                  <a:srgbClr val="15803D"/>
                </a:solidFill>
                <a:latin typeface="Noto Sans SC"/>
              </a:rPr>
              <a:t>，连接的交叉点就是它的“气”。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4350" y="3562350"/>
            <a:ext cx="7867650" cy="257175"/>
          </a:xfrm>
          <a:prstGeom prst="rect">
            <a:avLst/>
          </a:prstGeom>
          <a:noFill/>
        </p:spPr>
        <p:txBody>
          <a:bodyPr wrap="none" lIns="224432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40AF"/>
                </a:solidFill>
                <a:latin typeface="Noto Sans SC"/>
              </a:rPr>
              <a:t>中间的棋子：有 4 口气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4350" y="3876675"/>
            <a:ext cx="7867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D4ED8"/>
                </a:solidFill>
                <a:latin typeface="Noto Sans SC"/>
              </a:rPr>
              <a:t>周围有 4 个绿点点，代表小棋子现在呼吸非常顺畅！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4350" y="4648200"/>
            <a:ext cx="7867650" cy="257175"/>
          </a:xfrm>
          <a:prstGeom prst="rect">
            <a:avLst/>
          </a:prstGeom>
          <a:noFill/>
        </p:spPr>
        <p:txBody>
          <a:bodyPr wrap="none" lIns="224432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A3412"/>
                </a:solidFill>
                <a:latin typeface="Noto Sans SC"/>
              </a:rPr>
              <a:t>口诀记心中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4350" y="4962525"/>
            <a:ext cx="78676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2410C"/>
                </a:solidFill>
                <a:latin typeface="Noto Sans SC"/>
              </a:rPr>
              <a:t>“棋子站中央，伸出四只手；顺线去找气，一二三四口！”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09887"/>
            <a:ext cx="3505200" cy="1924050"/>
          </a:xfrm>
          <a:prstGeom prst="roundRect">
            <a:avLst>
              <a:gd name="adj" fmla="val 99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09887"/>
            <a:ext cx="3505200" cy="1924050"/>
          </a:xfrm>
          <a:prstGeom prst="roundRect">
            <a:avLst>
              <a:gd name="adj" fmla="val 99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09887"/>
            <a:ext cx="3505200" cy="1924050"/>
          </a:xfrm>
          <a:prstGeom prst="roundRect">
            <a:avLst>
              <a:gd name="adj" fmla="val 99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" y="31861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43425" y="31861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77225" y="31861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0680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Noto Sans SC"/>
              </a:rPr>
              <a:t>亲子互动游戏时间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SC"/>
              </a:rPr>
              <a:t>游戏一：《小鸽子找家与数呼吸》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318611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284C7"/>
                </a:solidFill>
                <a:latin typeface="Noto Sans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795712"/>
            <a:ext cx="4075509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SC"/>
              </a:rPr>
              <a:t>画画与找家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129087"/>
            <a:ext cx="32004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Noto Sans SC"/>
              </a:rPr>
              <a:t>爸爸/妈妈在白纸上画几个交叉线，让孩子拿棋子精准摆在交叉点上。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0550" y="318611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3425" y="3795712"/>
            <a:ext cx="4075509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SC"/>
              </a:rPr>
              <a:t>神奇大声数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3425" y="4129087"/>
            <a:ext cx="32004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Noto Sans SC"/>
              </a:rPr>
              <a:t>摆好一颗棋子，让孩子用小食指指着周围的 4 个交叉点，大声数出：“1、2、3、4！”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4350" y="318611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DC2626"/>
                </a:solidFill>
                <a:latin typeface="Noto Sans S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7225" y="3795712"/>
            <a:ext cx="39147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Noto Sans SC"/>
              </a:rPr>
              <a:t>堵住呼吸口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7225" y="4129087"/>
            <a:ext cx="32004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Noto Sans SC"/>
              </a:rPr>
              <a:t>家长用另一种颜色的棋子按住其中一口气，大声说：“堵住一口气啦，还剩几口气？”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88356"/>
            <a:ext cx="5372100" cy="923925"/>
          </a:xfrm>
          <a:prstGeom prst="roundRect">
            <a:avLst>
              <a:gd name="adj" fmla="val 16494"/>
            </a:avLst>
          </a:prstGeom>
          <a:solidFill>
            <a:srgbClr val="FEFCE8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088356"/>
            <a:ext cx="5372100" cy="923925"/>
          </a:xfrm>
          <a:prstGeom prst="roundRect">
            <a:avLst>
              <a:gd name="adj" fmla="val 1649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731543"/>
            <a:ext cx="5372100" cy="923925"/>
          </a:xfrm>
          <a:prstGeom prst="roundRect">
            <a:avLst>
              <a:gd name="adj" fmla="val 16494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731543"/>
            <a:ext cx="5372100" cy="923925"/>
          </a:xfrm>
          <a:prstGeom prst="roundRect">
            <a:avLst>
              <a:gd name="adj" fmla="val 16494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364581"/>
            <a:ext cx="207466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364581"/>
            <a:ext cx="207466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5007768"/>
            <a:ext cx="207466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5007768"/>
            <a:ext cx="207466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Noto Sans SC"/>
              </a:rPr>
              <a:t>家长陪练指南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Noto Sans SC"/>
              </a:rPr>
              <a:t>5岁孩子带教秘籍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591" y="2326481"/>
            <a:ext cx="4500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54D0E"/>
                </a:solidFill>
                <a:latin typeface="Noto Sans SC"/>
              </a:rPr>
              <a:t>控制时长：15分钟即停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591" y="2593181"/>
            <a:ext cx="4286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A16207"/>
                </a:solidFill>
                <a:latin typeface="Noto Sans SC"/>
              </a:rPr>
              <a:t>在孩子还意犹未尽时主动结束，保护好奇心与专注力。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8291" y="2326481"/>
            <a:ext cx="412551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4532D"/>
                </a:solidFill>
                <a:latin typeface="Noto Sans SC"/>
              </a:rPr>
              <a:t>多夸奖，不纠错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8291" y="2593181"/>
            <a:ext cx="3929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5803D"/>
                </a:solidFill>
                <a:latin typeface="Noto Sans SC"/>
              </a:rPr>
              <a:t>只要棋子放到了交叉点上，就及时给予击掌鼓励！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591" y="4969668"/>
            <a:ext cx="456287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3A8A"/>
                </a:solidFill>
                <a:latin typeface="Noto Sans SC"/>
              </a:rPr>
              <a:t>拟人化语言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591" y="5236368"/>
            <a:ext cx="434559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D4ED8"/>
                </a:solidFill>
                <a:latin typeface="Noto Sans SC"/>
              </a:rPr>
              <a:t>用“小棋子伸手臂”、“小鸽子回家”代替抽象的规则术语。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8291" y="4969668"/>
            <a:ext cx="457381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581C87"/>
                </a:solidFill>
                <a:latin typeface="Noto Sans SC"/>
              </a:rPr>
              <a:t>只用 9路棋盘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8291" y="5236368"/>
            <a:ext cx="435601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7E22CE"/>
                </a:solidFill>
                <a:latin typeface="Noto Sans SC"/>
              </a:rPr>
              <a:t>切勿直接使用 19路大棋盘，小棋盘更容易建立成就感。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000500" y="4348162"/>
            <a:ext cx="4191000" cy="533400"/>
          </a:xfrm>
          <a:prstGeom prst="roundRect">
            <a:avLst>
              <a:gd name="adj" fmla="val 28571"/>
            </a:avLst>
          </a:prstGeom>
          <a:solidFill>
            <a:srgbClr val="2E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976437"/>
            <a:ext cx="76200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767" y="2166937"/>
            <a:ext cx="296465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5512" y="2967037"/>
            <a:ext cx="7800975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FFFFFF"/>
                </a:solidFill>
                <a:latin typeface="ZCOOL KuaiLe"/>
              </a:rPr>
              <a:t>太棒啦！小勇士通关成功！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0956" y="3786187"/>
            <a:ext cx="634993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CBD5E1"/>
                </a:solidFill>
                <a:latin typeface="Noto Sans SC"/>
              </a:rPr>
              <a:t>今天我们认识了棋盘城堡，学会了找交叉点和数棋子的“气”。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1425" y="4500562"/>
            <a:ext cx="462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F8FAFC"/>
                </a:solidFill>
                <a:latin typeface="Noto Sans SC"/>
              </a:rPr>
              <a:t>下一课预告：</a:t>
            </a:r>
            <a:r>
              <a:rPr b="1" sz="1350" i="0" u="none">
                <a:solidFill>
                  <a:srgbClr val="38BDF8"/>
                </a:solidFill>
                <a:latin typeface="Noto Sans SC"/>
              </a:rPr>
              <a:t>第二课 - 吃子大作战与逃跑小高手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